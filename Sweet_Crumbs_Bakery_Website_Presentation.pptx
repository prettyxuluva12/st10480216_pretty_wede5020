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E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365760"/>
            <a:ext cx="1097280" cy="1097280"/>
          </a:xfrm>
          <a:prstGeom prst="ellipse">
            <a:avLst/>
          </a:prstGeom>
          <a:solidFill>
            <a:srgbClr val="DF6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98480" y="1005840"/>
            <a:ext cx="640080" cy="640080"/>
          </a:xfrm>
          <a:prstGeom prst="ellipse">
            <a:avLst/>
          </a:prstGeom>
          <a:solidFill>
            <a:srgbClr val="DF6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0" y="5394960"/>
            <a:ext cx="914400" cy="914400"/>
          </a:xfrm>
          <a:prstGeom prst="ellipse">
            <a:avLst/>
          </a:prstGeom>
          <a:solidFill>
            <a:srgbClr val="DF6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9875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3D2420"/>
                </a:solidFill>
                <a:latin typeface="Georgia"/>
              </a:defRPr>
            </a:pPr>
            <a:r>
              <a:t>Sweet Crumbs Bakery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889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DF6875"/>
                </a:solidFill>
                <a:latin typeface="Arial"/>
              </a:defRPr>
            </a:pPr>
            <a:r>
              <a:t>Website 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749039"/>
            <a:ext cx="8686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E524C"/>
                </a:solidFill>
                <a:latin typeface="Arial"/>
              </a:defRPr>
            </a:pPr>
            <a:r>
              <a:t>A responsive bakery website built using HTML and CSS</a:t>
            </a:r>
          </a:p>
          <a:p>
            <a:pPr>
              <a:defRPr sz="1800">
                <a:solidFill>
                  <a:srgbClr val="3D2420"/>
                </a:solidFill>
                <a:latin typeface="Arial"/>
              </a:defRPr>
            </a:pPr>
            <a:r>
              <a:t>Prepared by: ____________________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3D2420"/>
                </a:solidFill>
                <a:latin typeface="Georgia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E524C"/>
                </a:solidFill>
                <a:latin typeface="Arial"/>
              </a:defRPr>
            </a:pPr>
            <a:r>
              <a:t>What the website is about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3D2420"/>
                </a:solidFill>
                <a:latin typeface="Arial"/>
              </a:defRPr>
            </a:pPr>
            <a:r>
              <a:t>• Sweet Crumbs Bakery is a fictional bakery website.</a:t>
            </a:r>
          </a:p>
          <a:p>
            <a:pPr>
              <a:spcAft>
                <a:spcPts val="1400"/>
              </a:spcAft>
              <a:defRPr sz="2100">
                <a:solidFill>
                  <a:srgbClr val="3D2420"/>
                </a:solidFill>
                <a:latin typeface="Arial"/>
              </a:defRPr>
            </a:pPr>
            <a:r>
              <a:t>• The website presents cakes, cupcakes and other baked treats.</a:t>
            </a:r>
          </a:p>
          <a:p>
            <a:pPr>
              <a:spcAft>
                <a:spcPts val="1400"/>
              </a:spcAft>
              <a:defRPr sz="2100">
                <a:solidFill>
                  <a:srgbClr val="3D2420"/>
                </a:solidFill>
                <a:latin typeface="Arial"/>
              </a:defRPr>
            </a:pPr>
            <a:r>
              <a:t>• Customers can browse products, learn about the bakery and make an enquiry.</a:t>
            </a:r>
          </a:p>
          <a:p>
            <a:pPr>
              <a:spcAft>
                <a:spcPts val="1400"/>
              </a:spcAft>
              <a:defRPr sz="2100">
                <a:solidFill>
                  <a:srgbClr val="3D2420"/>
                </a:solidFill>
                <a:latin typeface="Arial"/>
              </a:defRPr>
            </a:pPr>
            <a:r>
              <a:t>• The design uses a soft bakery-inspired pink and cream colour scheme.</a:t>
            </a:r>
          </a:p>
          <a:p>
            <a:pPr>
              <a:spcAft>
                <a:spcPts val="1400"/>
              </a:spcAft>
              <a:defRPr sz="2100">
                <a:solidFill>
                  <a:srgbClr val="3D2420"/>
                </a:solidFill>
                <a:latin typeface="Arial"/>
              </a:defRPr>
            </a:pPr>
            <a:r>
              <a:t>• The site is structured as multiple connected HTML pages.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DF6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56539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E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3D2420"/>
                </a:solidFill>
                <a:latin typeface="Georgia"/>
              </a:defRPr>
            </a:pPr>
            <a:r>
              <a:t>Website 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E524C"/>
                </a:solidFill>
                <a:latin typeface="Arial"/>
              </a:defRPr>
            </a:pPr>
            <a:r>
              <a:t>Main sections included in the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105156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A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64207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F6875"/>
                </a:solidFill>
                <a:latin typeface="Georgia"/>
              </a:defRPr>
            </a:pPr>
            <a:r>
              <a:t>Home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682495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D2420"/>
                </a:solidFill>
                <a:latin typeface="Arial"/>
              </a:defRPr>
            </a:pPr>
            <a:r>
              <a:t>Introduction, featured products and bakery highlights.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423160"/>
            <a:ext cx="105156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A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532888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F6875"/>
                </a:solidFill>
                <a:latin typeface="Georgia"/>
              </a:defRPr>
            </a:pPr>
            <a:r>
              <a:t>About 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551176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D2420"/>
                </a:solidFill>
                <a:latin typeface="Arial"/>
              </a:defRPr>
            </a:pPr>
            <a:r>
              <a:t>Bakery story, mission, vision and values.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291839"/>
            <a:ext cx="105156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A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401568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F6875"/>
                </a:solidFill>
                <a:latin typeface="Georgia"/>
              </a:defRPr>
            </a:pPr>
            <a:r>
              <a:t>Products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419856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D2420"/>
                </a:solidFill>
                <a:latin typeface="Arial"/>
              </a:defRPr>
            </a:pPr>
            <a:r>
              <a:t>Full catalogue of cakes, cupcakes and treats.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160520"/>
            <a:ext cx="105156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A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270248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F6875"/>
                </a:solidFill>
                <a:latin typeface="Georgia"/>
              </a:defRPr>
            </a:pPr>
            <a:r>
              <a:t>Enquiry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288536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D2420"/>
                </a:solidFill>
                <a:latin typeface="Arial"/>
              </a:defRPr>
            </a:pPr>
            <a:r>
              <a:t>Form for customers to request products or custom cakes.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029200"/>
            <a:ext cx="105156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A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5138928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F6875"/>
                </a:solidFill>
                <a:latin typeface="Georgia"/>
              </a:defRPr>
            </a:pPr>
            <a:r>
              <a:t>Contact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5157216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D2420"/>
                </a:solidFill>
                <a:latin typeface="Arial"/>
              </a:defRPr>
            </a:pPr>
            <a:r>
              <a:t>Contact details and a message form.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DF6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0" y="656539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3D2420"/>
                </a:solidFill>
                <a:latin typeface="Georgia"/>
              </a:defRPr>
            </a:pPr>
            <a:r>
              <a:t>Technology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E524C"/>
                </a:solidFill>
                <a:latin typeface="Arial"/>
              </a:defRPr>
            </a:pPr>
            <a:r>
              <a:t>Tools and technologies used to build the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D2420"/>
                </a:solidFill>
                <a:latin typeface="Arial"/>
              </a:defRPr>
            </a:pPr>
            <a:r>
              <a:t>• HTML5: Used to create the structure and content of each webpage.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06039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D2420"/>
                </a:solidFill>
                <a:latin typeface="Arial"/>
              </a:defRPr>
            </a:pPr>
            <a:r>
              <a:t>• CSS3: Used to style the layout, colours, typography, cards and responsive design.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599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D2420"/>
                </a:solidFill>
                <a:latin typeface="Arial"/>
              </a:defRPr>
            </a:pPr>
            <a:r>
              <a:t>• Visual Studio Code: Used as the development environment for writing and organising the files.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9159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D2420"/>
                </a:solidFill>
                <a:latin typeface="Arial"/>
              </a:defRPr>
            </a:pPr>
            <a:r>
              <a:t>• Web Browser: Used to test and preview the website while developing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DF6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0" y="656539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E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3D2420"/>
                </a:solidFill>
                <a:latin typeface="Georgia"/>
              </a:defRPr>
            </a:pPr>
            <a:r>
              <a:t>Website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E524C"/>
                </a:solidFill>
                <a:latin typeface="Arial"/>
              </a:defRPr>
            </a:pPr>
            <a:r>
              <a:t>Organisation of the project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554480"/>
            <a:ext cx="93268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D2420"/>
                </a:solidFill>
                <a:latin typeface="Consolas"/>
              </a:defRPr>
            </a:pPr>
            <a:r>
              <a:t>SweetCrumbsBakery/</a:t>
            </a:r>
            <a:br/>
            <a:r>
              <a:t>│</a:t>
            </a:r>
            <a:br/>
            <a:r>
              <a:t>├── index.html</a:t>
            </a:r>
            <a:br/>
            <a:r>
              <a:t>├── about.html</a:t>
            </a:r>
            <a:br/>
            <a:r>
              <a:t>├── products.html</a:t>
            </a:r>
            <a:br/>
            <a:r>
              <a:t>├── enquiry.html</a:t>
            </a:r>
            <a:br/>
            <a:r>
              <a:t>├── contact.html</a:t>
            </a:r>
            <a:br/>
            <a:r>
              <a:t>│</a:t>
            </a:r>
            <a:br/>
            <a:r>
              <a:t>├── css/</a:t>
            </a:r>
            <a:br/>
            <a:r>
              <a:t>│   └── style.css</a:t>
            </a:r>
            <a:br/>
            <a:r>
              <a:t>│</a:t>
            </a:r>
            <a:br/>
            <a:r>
              <a:t>└── images/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DF6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56539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3D2420"/>
                </a:solidFill>
                <a:latin typeface="Georgia"/>
              </a:defRPr>
            </a:pPr>
            <a:r>
              <a:t>Key Website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E524C"/>
                </a:solidFill>
                <a:latin typeface="Arial"/>
              </a:defRPr>
            </a:pPr>
            <a:r>
              <a:t>What users can do on the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D2420"/>
                </a:solidFill>
                <a:latin typeface="Arial"/>
              </a:defRPr>
            </a:pPr>
            <a:r>
              <a:t>• Navigate between Home, About Us, Products, Enquiry and Contact pages.</a:t>
            </a:r>
          </a:p>
          <a:p>
            <a:pPr>
              <a:spcAft>
                <a:spcPts val="1400"/>
              </a:spcAft>
              <a:defRPr sz="2000">
                <a:solidFill>
                  <a:srgbClr val="3D2420"/>
                </a:solidFill>
                <a:latin typeface="Arial"/>
              </a:defRPr>
            </a:pPr>
            <a:r>
              <a:t>• View bakery products with descriptions and prices.</a:t>
            </a:r>
          </a:p>
          <a:p>
            <a:pPr>
              <a:spcAft>
                <a:spcPts val="1400"/>
              </a:spcAft>
              <a:defRPr sz="2000">
                <a:solidFill>
                  <a:srgbClr val="3D2420"/>
                </a:solidFill>
                <a:latin typeface="Arial"/>
              </a:defRPr>
            </a:pPr>
            <a:r>
              <a:t>• Browse cake flavours and different treat categories.</a:t>
            </a:r>
          </a:p>
          <a:p>
            <a:pPr>
              <a:spcAft>
                <a:spcPts val="1400"/>
              </a:spcAft>
              <a:defRPr sz="2000">
                <a:solidFill>
                  <a:srgbClr val="3D2420"/>
                </a:solidFill>
                <a:latin typeface="Arial"/>
              </a:defRPr>
            </a:pPr>
            <a:r>
              <a:t>• Submit an enquiry for a cake or other bakery product.</a:t>
            </a:r>
          </a:p>
          <a:p>
            <a:pPr>
              <a:spcAft>
                <a:spcPts val="1400"/>
              </a:spcAft>
              <a:defRPr sz="2000">
                <a:solidFill>
                  <a:srgbClr val="3D2420"/>
                </a:solidFill>
                <a:latin typeface="Arial"/>
              </a:defRPr>
            </a:pPr>
            <a:r>
              <a:t>• Find the bakery's location, phone number, email and opening hours.</a:t>
            </a:r>
          </a:p>
          <a:p>
            <a:pPr>
              <a:spcAft>
                <a:spcPts val="1400"/>
              </a:spcAft>
              <a:defRPr sz="2000">
                <a:solidFill>
                  <a:srgbClr val="3D2420"/>
                </a:solidFill>
                <a:latin typeface="Arial"/>
              </a:defRPr>
            </a:pPr>
            <a:r>
              <a:t>• Use the responsive layout on desktop, tablet and mobile screens.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DF6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56539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E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3D2420"/>
                </a:solidFill>
                <a:latin typeface="Georgia"/>
              </a:defRPr>
            </a:pPr>
            <a:r>
              <a:t>Design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E524C"/>
                </a:solidFill>
                <a:latin typeface="Arial"/>
              </a:defRPr>
            </a:pPr>
            <a:r>
              <a:t>Visual style and user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D2420"/>
                </a:solidFill>
                <a:latin typeface="Arial"/>
              </a:defRPr>
            </a:pPr>
            <a:r>
              <a:t>• Soft pink and cream colours create a warm bakery feel.</a:t>
            </a:r>
          </a:p>
          <a:p>
            <a:pPr>
              <a:spcAft>
                <a:spcPts val="1400"/>
              </a:spcAft>
              <a:defRPr sz="2000">
                <a:solidFill>
                  <a:srgbClr val="3D2420"/>
                </a:solidFill>
                <a:latin typeface="Arial"/>
              </a:defRPr>
            </a:pPr>
            <a:r>
              <a:t>• Rounded cards make products easy to scan.</a:t>
            </a:r>
          </a:p>
          <a:p>
            <a:pPr>
              <a:spcAft>
                <a:spcPts val="1400"/>
              </a:spcAft>
              <a:defRPr sz="2000">
                <a:solidFill>
                  <a:srgbClr val="3D2420"/>
                </a:solidFill>
                <a:latin typeface="Arial"/>
              </a:defRPr>
            </a:pPr>
            <a:r>
              <a:t>• Clear navigation helps users find important pages quickly.</a:t>
            </a:r>
          </a:p>
          <a:p>
            <a:pPr>
              <a:spcAft>
                <a:spcPts val="1400"/>
              </a:spcAft>
              <a:defRPr sz="2000">
                <a:solidFill>
                  <a:srgbClr val="3D2420"/>
                </a:solidFill>
                <a:latin typeface="Arial"/>
              </a:defRPr>
            </a:pPr>
            <a:r>
              <a:t>• Large headings and spacing improve readability.</a:t>
            </a:r>
          </a:p>
          <a:p>
            <a:pPr>
              <a:spcAft>
                <a:spcPts val="1400"/>
              </a:spcAft>
              <a:defRPr sz="2000">
                <a:solidFill>
                  <a:srgbClr val="3D2420"/>
                </a:solidFill>
                <a:latin typeface="Arial"/>
              </a:defRPr>
            </a:pPr>
            <a:r>
              <a:t>• Product categories organise the menu into clear sections.</a:t>
            </a:r>
          </a:p>
          <a:p>
            <a:pPr>
              <a:spcAft>
                <a:spcPts val="1400"/>
              </a:spcAft>
              <a:defRPr sz="2000">
                <a:solidFill>
                  <a:srgbClr val="3D2420"/>
                </a:solidFill>
                <a:latin typeface="Arial"/>
              </a:defRPr>
            </a:pPr>
            <a:r>
              <a:t>• Responsive CSS allows the layout to adapt to smaller screens.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DF6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56539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3D2420"/>
                </a:solidFill>
                <a:latin typeface="Georgia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E524C"/>
                </a:solidFill>
                <a:latin typeface="Arial"/>
              </a:defRPr>
            </a:pPr>
            <a:r>
              <a:t>Summary of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3D2420"/>
                </a:solidFill>
                <a:latin typeface="Arial"/>
              </a:defRPr>
            </a:pPr>
            <a:r>
              <a:t>• The Sweet Crumbs Bakery website provides a complete online presence for a bakery.</a:t>
            </a:r>
          </a:p>
          <a:p>
            <a:pPr>
              <a:spcAft>
                <a:spcPts val="1400"/>
              </a:spcAft>
              <a:defRPr sz="2100">
                <a:solidFill>
                  <a:srgbClr val="3D2420"/>
                </a:solidFill>
                <a:latin typeface="Arial"/>
              </a:defRPr>
            </a:pPr>
            <a:r>
              <a:t>• The project demonstrates the use of semantic HTML and CSS.</a:t>
            </a:r>
          </a:p>
          <a:p>
            <a:pPr>
              <a:spcAft>
                <a:spcPts val="1400"/>
              </a:spcAft>
              <a:defRPr sz="2100">
                <a:solidFill>
                  <a:srgbClr val="3D2420"/>
                </a:solidFill>
                <a:latin typeface="Arial"/>
              </a:defRPr>
            </a:pPr>
            <a:r>
              <a:t>• The pages are connected through a consistent navigation system.</a:t>
            </a:r>
          </a:p>
          <a:p>
            <a:pPr>
              <a:spcAft>
                <a:spcPts val="1400"/>
              </a:spcAft>
              <a:defRPr sz="2100">
                <a:solidFill>
                  <a:srgbClr val="3D2420"/>
                </a:solidFill>
                <a:latin typeface="Arial"/>
              </a:defRPr>
            </a:pPr>
            <a:r>
              <a:t>• The design focuses on simplicity, readability and a pleasant customer experience.</a:t>
            </a:r>
          </a:p>
          <a:p>
            <a:pPr>
              <a:spcAft>
                <a:spcPts val="1400"/>
              </a:spcAft>
              <a:defRPr sz="2100">
                <a:solidFill>
                  <a:srgbClr val="3D2420"/>
                </a:solidFill>
                <a:latin typeface="Arial"/>
              </a:defRPr>
            </a:pPr>
            <a:r>
              <a:t>• The website can be expanded later with JavaScript, online ordering, payments and a backend.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DF6875"/>
                </a:solidFill>
                <a:latin typeface="Georgia"/>
              </a:defRPr>
            </a:pPr>
            <a: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DF6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0" y="656539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